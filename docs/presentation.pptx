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4.png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Support de présentation — Air Paradis 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Laureenda Demeule — Projet OC P7 — Soutenance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 — Contexte</a:t>
            </a:r>
          </a:p>
          <a:p>
            <a:pPr lvl="0"/>
            <a:r>
              <a:rPr/>
              <a:t>Client : Air Paradis (compagnie aérienne)</a:t>
            </a:r>
          </a:p>
          <a:p>
            <a:pPr lvl="0"/>
            <a:r>
              <a:rPr/>
              <a:t>Besoin : prédire le sentiment d’un tweet (positif / négatif)</a:t>
            </a:r>
          </a:p>
          <a:p>
            <a:pPr lvl="0"/>
            <a:r>
              <a:rPr/>
              <a:t>Données : Sentiment140 (1,6M tweets, open source)</a:t>
            </a:r>
          </a:p>
          <a:p>
            <a:pPr lvl="0"/>
            <a:r>
              <a:rPr/>
              <a:t>Livrable : prototype MLOps déployé sur le cloud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 — Méthodologie globale</a:t>
            </a:r>
          </a:p>
          <a:p>
            <a:pPr lvl="0" indent="-342900" marL="342900">
              <a:buAutoNum type="arabicPeriod"/>
            </a:pPr>
            <a:r>
              <a:rPr/>
              <a:t>EDA + nettoyage (</a:t>
            </a:r>
            <a:r>
              <a:rPr>
                <a:latin typeface="Courier"/>
              </a:rPr>
              <a:t>01_Analyse_Exploratoire.ipynb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Trois approches de modélisation</a:t>
            </a:r>
          </a:p>
          <a:p>
            <a:pPr lvl="0" indent="-342900" marL="342900">
              <a:buAutoNum type="arabicPeriod"/>
            </a:pPr>
            <a:r>
              <a:rPr/>
              <a:t>Tracking MLflow</a:t>
            </a:r>
          </a:p>
          <a:p>
            <a:pPr lvl="0" indent="-342900" marL="342900">
              <a:buAutoNum type="arabicPeriod"/>
            </a:pPr>
            <a:r>
              <a:rPr/>
              <a:t>Sélection du meilleur modèle</a:t>
            </a:r>
          </a:p>
          <a:p>
            <a:pPr lvl="0" indent="-342900" marL="342900">
              <a:buAutoNum type="arabicPeriod"/>
            </a:pPr>
            <a:r>
              <a:rPr/>
              <a:t>Déploiement API Azure + monitoring App Insights</a:t>
            </a:r>
          </a:p>
          <a:p>
            <a:pPr lvl="0" indent="0" marL="0">
              <a:buNone/>
            </a:pPr>
            <a:r>
              <a:rPr/>
              <a:t>Split des données : </a:t>
            </a:r>
            <a:r>
              <a:rPr b="1"/>
              <a:t>60 % train / 20 % validation / 20 % test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2b — Exploration des données (EDA)</a:t>
            </a:r>
          </a:p>
          <a:p>
            <a:pPr lvl="0"/>
            <a:r>
              <a:rPr/>
              <a:t>Dataset parfaitement équilibré : 800k négatifs / 800k positifs</a:t>
            </a:r>
          </a:p>
          <a:p>
            <a:pPr lvl="0"/>
            <a:r>
              <a:rPr/>
              <a:t>Tweets courts : majorité entre 5 et 15 mots</a:t>
            </a:r>
          </a:p>
        </p:txBody>
      </p:sp>
      <p:pic>
        <p:nvPicPr>
          <p:cNvPr descr="screenshots/eda_class_bal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81400" y="203200"/>
            <a:ext cx="50800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Équilibre des classes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2c — Vocabulaire par sentiment</a:t>
            </a:r>
          </a:p>
          <a:p>
            <a:pPr lvl="0" indent="0" marL="0">
              <a:buNone/>
            </a:pPr>
            <a:r>
              <a:rPr/>
              <a:t>Wordcloud des tweets positifs — le nettoyage (URLs, mentions, stopwords) fait ressortir le vocabulaire porteur de sentiment.</a:t>
            </a:r>
          </a:p>
        </p:txBody>
      </p:sp>
      <p:pic>
        <p:nvPicPr>
          <p:cNvPr descr="screenshots/eda_wordcloud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06900" y="203200"/>
            <a:ext cx="34290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Wordcloud sentiments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 — Approche 1 : Modèles simples</a:t>
            </a:r>
          </a:p>
          <a:p>
            <a:pPr lvl="0"/>
            <a:r>
              <a:rPr/>
              <a:t>TF-IDF (5000 features)</a:t>
            </a:r>
          </a:p>
          <a:p>
            <a:pPr lvl="0"/>
            <a:r>
              <a:rPr/>
              <a:t>Régression logistique : F1 test ~76,4 % (50k)</a:t>
            </a:r>
          </a:p>
          <a:p>
            <a:pPr lvl="0"/>
            <a:r>
              <a:rPr/>
              <a:t>Random Forest : F1 test ~72,5 %</a:t>
            </a:r>
          </a:p>
          <a:p>
            <a:pPr lvl="0" indent="0" marL="0">
              <a:buNone/>
            </a:pPr>
            <a:r>
              <a:rPr/>
              <a:t>Avantages : rapide, léger, interprétable. Utilisé en production sur Azure F1.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 — Approche 2 : Deep Learning</a:t>
            </a:r>
          </a:p>
          <a:p>
            <a:pPr lvl="0"/>
            <a:r>
              <a:rPr/>
              <a:t>CNN-LSTM hybride</a:t>
            </a:r>
          </a:p>
          <a:p>
            <a:pPr lvl="0"/>
            <a:r>
              <a:rPr/>
              <a:t>Embeddings : Word2Vec vs GloVe</a:t>
            </a:r>
          </a:p>
          <a:p>
            <a:pPr lvl="0"/>
            <a:r>
              <a:rPr/>
              <a:t>Early stopping sur validation</a:t>
            </a:r>
          </a:p>
          <a:p>
            <a:pPr lvl="0" indent="0" marL="0">
              <a:buNone/>
            </a:pPr>
            <a:r>
              <a:rPr/>
              <a:t>Word2Vec ~65,7 % F1, GloVe ~69,4 % F1 sur 50k tweets.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5 — Approche 3 : BERT</a:t>
            </a:r>
          </a:p>
          <a:p>
            <a:pPr lvl="0"/>
            <a:r>
              <a:rPr/>
              <a:t>DistilBERT fine-tuned</a:t>
            </a:r>
          </a:p>
          <a:p>
            <a:pPr lvl="0"/>
            <a:r>
              <a:rPr/>
              <a:t>2 epochs, échantillon stratifié 50k</a:t>
            </a:r>
          </a:p>
          <a:p>
            <a:pPr lvl="0"/>
            <a:r>
              <a:rPr b="1"/>
              <a:t>Meilleur modèle entraîné : 81,5 % test accuracy, 81,5 % F1</a:t>
            </a:r>
          </a:p>
          <a:p>
            <a:pPr lvl="0" indent="0" marL="0">
              <a:buNone/>
            </a:pPr>
            <a:r>
              <a:rPr/>
              <a:t>Sélectionné comme modèle de référence ; fallback logistic sur Azure F1 (mémoire).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6 — Comparaison MLflow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F1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LogReg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76,4 %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Forest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72,5 %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CNN-LSTM W2V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65,7 %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CNN-LSTM GloVe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69,4 %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DistilBERT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81,5 %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s/mlflow_model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1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Comparaison MLflow</a:t>
            </a:r>
          </a:p>
        </p:txBody>
      </p:sp>
      <p:pic>
        <p:nvPicPr>
          <p:cNvPr descr="screenshots/mlflow_ui_run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95500" y="1193800"/>
            <a:ext cx="4953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MLflow UI — runs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7 — MLOps : principes</a:t>
            </a:r>
          </a:p>
          <a:p>
            <a:pPr lvl="0"/>
            <a:r>
              <a:rPr b="1"/>
              <a:t>Tracking</a:t>
            </a:r>
            <a:r>
              <a:rPr/>
              <a:t> : MLflow (params, metrics, artifacts)</a:t>
            </a:r>
          </a:p>
          <a:p>
            <a:pPr lvl="0"/>
            <a:r>
              <a:rPr b="1"/>
              <a:t>Versioning</a:t>
            </a:r>
            <a:r>
              <a:rPr/>
              <a:t> : Git + GitHub</a:t>
            </a:r>
          </a:p>
          <a:p>
            <a:pPr lvl="0"/>
            <a:r>
              <a:rPr b="1"/>
              <a:t>Tests</a:t>
            </a:r>
            <a:r>
              <a:rPr/>
              <a:t> : pytest (11 tests)</a:t>
            </a:r>
          </a:p>
          <a:p>
            <a:pPr lvl="0"/>
            <a:r>
              <a:rPr b="1"/>
              <a:t>CI/CD</a:t>
            </a:r>
            <a:r>
              <a:rPr/>
              <a:t> : GitHub Actions</a:t>
            </a:r>
          </a:p>
          <a:p>
            <a:pPr lvl="0"/>
            <a:r>
              <a:rPr b="1"/>
              <a:t>Monitoring</a:t>
            </a:r>
            <a:r>
              <a:rPr/>
              <a:t> : Azure Application Insights</a:t>
            </a:r>
          </a:p>
        </p:txBody>
      </p:sp>
      <p:pic>
        <p:nvPicPr>
          <p:cNvPr descr="screenshots/github_actions_c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GitHub Actions CI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8 — Mise en production</a:t>
            </a:r>
          </a:p>
          <a:p>
            <a:pPr lvl="0"/>
            <a:r>
              <a:rPr/>
              <a:t>API FastAPI : </a:t>
            </a:r>
            <a:r>
              <a:rPr>
                <a:latin typeface="Courier"/>
              </a:rPr>
              <a:t>/predict</a:t>
            </a:r>
            <a:r>
              <a:rPr/>
              <a:t>, </a:t>
            </a:r>
            <a:r>
              <a:rPr>
                <a:latin typeface="Courier"/>
              </a:rPr>
              <a:t>/health</a:t>
            </a:r>
            <a:r>
              <a:rPr/>
              <a:t>, </a:t>
            </a:r>
            <a:r>
              <a:rPr>
                <a:latin typeface="Courier"/>
              </a:rPr>
              <a:t>/feedback</a:t>
            </a:r>
          </a:p>
          <a:p>
            <a:pPr lvl="0"/>
            <a:r>
              <a:rPr/>
              <a:t>Déploiement : Azure Web App F1</a:t>
            </a:r>
          </a:p>
          <a:p>
            <a:pPr lvl="0"/>
            <a:r>
              <a:rPr/>
              <a:t>Modèle déployé : </a:t>
            </a:r>
            <a:r>
              <a:rPr>
                <a:latin typeface="Courier"/>
              </a:rPr>
              <a:t>cnn_lstm_glove</a:t>
            </a:r>
            <a:r>
              <a:rPr/>
              <a:t> (Modèle sur mesure avancé — 5 Mo)</a:t>
            </a:r>
          </a:p>
          <a:p>
            <a:pPr lvl="0"/>
            <a:r>
              <a:rPr/>
              <a:t>DistilBERT = meilleur modèle entraîné, trop lourd pour F1 (~250 Mo)</a:t>
            </a:r>
          </a:p>
          <a:p>
            <a:pPr lvl="0"/>
            <a:r>
              <a:rPr/>
              <a:t>Fallback automatique : </a:t>
            </a:r>
            <a:r>
              <a:rPr>
                <a:latin typeface="Courier"/>
              </a:rPr>
              <a:t>tfidf_logistic</a:t>
            </a:r>
            <a:r>
              <a:rPr/>
              <a:t> si TensorFlow indisponible</a:t>
            </a:r>
          </a:p>
        </p:txBody>
      </p:sp>
      <p:pic>
        <p:nvPicPr>
          <p:cNvPr descr="screenshots/azure_api_heal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68300"/>
            <a:ext cx="5105400" cy="354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API Azure /health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9 — Interface Streamlit</a:t>
            </a:r>
          </a:p>
          <a:p>
            <a:pPr lvl="0"/>
            <a:r>
              <a:rPr/>
              <a:t>Saisie tweet → appel API cloud → prédiction</a:t>
            </a:r>
          </a:p>
          <a:p>
            <a:pPr lvl="0"/>
            <a:r>
              <a:rPr/>
              <a:t>Validation utilisateur (Oui / Non)</a:t>
            </a:r>
          </a:p>
          <a:p>
            <a:pPr lvl="0"/>
            <a:r>
              <a:rPr/>
              <a:t>Trace App Insights si erreur</a:t>
            </a:r>
          </a:p>
          <a:p>
            <a:pPr lvl="0"/>
            <a:r>
              <a:rPr/>
              <a:t>Alerte : 3 erreurs / 5 min</a:t>
            </a:r>
          </a:p>
        </p:txBody>
      </p:sp>
      <p:pic>
        <p:nvPicPr>
          <p:cNvPr descr="screenshots/streamlit_dem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68300"/>
            <a:ext cx="5105400" cy="354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Streamlit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10 — Suivi production</a:t>
            </a:r>
          </a:p>
          <a:p>
            <a:pPr lvl="0"/>
            <a:r>
              <a:rPr/>
              <a:t>Traces : texte, prédiction, timestamp</a:t>
            </a:r>
          </a:p>
          <a:p>
            <a:pPr lvl="0"/>
            <a:r>
              <a:rPr/>
              <a:t>Alertes configurées dans App Insights</a:t>
            </a:r>
          </a:p>
          <a:p>
            <a:pPr lvl="0"/>
            <a:r>
              <a:rPr/>
              <a:t>Boucle d’amélioration : collecte → analyse → réentraînement → MLflow compare → promotion</a:t>
            </a:r>
          </a:p>
        </p:txBody>
      </p:sp>
      <p:pic>
        <p:nvPicPr>
          <p:cNvPr descr="screenshots/app_insights_trac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57300"/>
            <a:ext cx="5105400" cy="1765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Application Insights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11 — Démonstration live</a:t>
            </a:r>
          </a:p>
          <a:p>
            <a:pPr lvl="0" indent="-342900" marL="342900">
              <a:buAutoNum type="arabicPeriod"/>
            </a:pPr>
            <a:r>
              <a:rPr/>
              <a:t>Tweet positif → prédiction positive</a:t>
            </a:r>
          </a:p>
          <a:p>
            <a:pPr lvl="0" indent="-342900" marL="342900">
              <a:buAutoNum type="arabicPeriod"/>
            </a:pPr>
            <a:r>
              <a:rPr/>
              <a:t>Tweet négatif → prédiction négative</a:t>
            </a:r>
          </a:p>
          <a:p>
            <a:pPr lvl="0" indent="-342900" marL="342900">
              <a:buAutoNum type="arabicPeriod"/>
            </a:pPr>
            <a:r>
              <a:rPr/>
              <a:t>Feedback incorrect → trace App Insights</a:t>
            </a:r>
          </a:p>
          <a:p>
            <a:pPr lvl="0" indent="-342900" marL="342900">
              <a:buAutoNum type="arabicPeriod"/>
            </a:pPr>
            <a:r>
              <a:rPr/>
              <a:t>GitHub Actions vert (11 tests)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12 — Conclusion</a:t>
            </a:r>
          </a:p>
          <a:p>
            <a:pPr lvl="0"/>
            <a:r>
              <a:rPr/>
              <a:t>DistilBERT = meilleur modèle entraîné (81,5 % F1)</a:t>
            </a:r>
          </a:p>
          <a:p>
            <a:pPr lvl="0"/>
            <a:r>
              <a:rPr/>
              <a:t>CNN-LSTM + GloVe = modèle sur mesure avancé déployé (69,4 % F1, 5 Mo)</a:t>
            </a:r>
          </a:p>
          <a:p>
            <a:pPr lvl="0"/>
            <a:r>
              <a:rPr/>
              <a:t>MLOps opérationnel (tracking, CI, monitoring, alertes)</a:t>
            </a:r>
          </a:p>
          <a:p>
            <a:pPr lvl="0"/>
            <a:r>
              <a:rPr/>
              <a:t>Piste d’évolution : données augmentées via feedback App Insights, active learning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Annexes pour l’évaluateur</a:t>
            </a:r>
          </a:p>
          <a:p>
            <a:pPr lvl="0"/>
            <a:r>
              <a:rPr/>
              <a:t>Repo : https://github.com/molly-muffin/P7_OC_AirParadis</a:t>
            </a:r>
          </a:p>
          <a:p>
            <a:pPr lvl="0"/>
            <a:r>
              <a:rPr/>
              <a:t>API : https://air-paradis-sentiment-P7.azurewebsites.net</a:t>
            </a:r>
          </a:p>
          <a:p>
            <a:pPr lvl="0"/>
            <a:r>
              <a:rPr/>
              <a:t>Notebooks : </a:t>
            </a:r>
            <a:r>
              <a:rPr>
                <a:latin typeface="Courier"/>
              </a:rPr>
              <a:t>notebooks/</a:t>
            </a:r>
          </a:p>
          <a:p>
            <a:pPr lvl="0"/>
            <a:r>
              <a:rPr/>
              <a:t>Blog : </a:t>
            </a:r>
            <a:r>
              <a:rPr>
                <a:latin typeface="Courier"/>
              </a:rPr>
              <a:t>blog/article_mlops_sentiment.md</a:t>
            </a:r>
          </a:p>
          <a:p>
            <a:pPr lvl="0"/>
            <a:r>
              <a:rPr/>
              <a:t>Commandes : voir </a:t>
            </a:r>
            <a:r>
              <a:rPr>
                <a:latin typeface="Courier"/>
              </a:rPr>
              <a:t>README.md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2026-07-19T01:46:51Z</dcterms:created>
  <dcterms:modified xsi:type="dcterms:W3CDTF">2026-07-19T01:46:51Z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